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23"/>
        <p:guide pos="38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 flipV="1">
            <a:off x="4553585" y="2480310"/>
            <a:ext cx="3773805" cy="1015365"/>
          </a:xfrm>
          <a:prstGeom prst="line">
            <a:avLst/>
          </a:prstGeom>
          <a:ln w="254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4553585" y="2303145"/>
            <a:ext cx="1786255" cy="119253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Isosceles Triangle 2"/>
          <p:cNvSpPr/>
          <p:nvPr/>
        </p:nvSpPr>
        <p:spPr>
          <a:xfrm>
            <a:off x="4386580" y="3284855"/>
            <a:ext cx="297180" cy="288290"/>
          </a:xfrm>
          <a:prstGeom prst="triangle">
            <a:avLst/>
          </a:prstGeom>
          <a:solidFill>
            <a:srgbClr val="C00000"/>
          </a:solidFill>
          <a:ln w="1905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Isosceles Triangle 3"/>
          <p:cNvSpPr/>
          <p:nvPr/>
        </p:nvSpPr>
        <p:spPr>
          <a:xfrm>
            <a:off x="6172835" y="2092325"/>
            <a:ext cx="297180" cy="288290"/>
          </a:xfrm>
          <a:prstGeom prst="triangle">
            <a:avLst/>
          </a:prstGeom>
          <a:solidFill>
            <a:srgbClr val="C00000"/>
          </a:solidFill>
          <a:ln w="1905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5370195" y="2480310"/>
            <a:ext cx="153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D</a:t>
            </a:r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3483610" y="3127375"/>
            <a:ext cx="974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/>
              <a:t>ROMY</a:t>
            </a:r>
            <a:endParaRPr lang="en-US" b="1"/>
          </a:p>
        </p:txBody>
      </p:sp>
      <p:sp>
        <p:nvSpPr>
          <p:cNvPr id="9" name="Text Box 8"/>
          <p:cNvSpPr txBox="1"/>
          <p:nvPr/>
        </p:nvSpPr>
        <p:spPr>
          <a:xfrm>
            <a:off x="5270500" y="1812925"/>
            <a:ext cx="1069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/>
              <a:t>G-ring</a:t>
            </a:r>
            <a:endParaRPr lang="en-US" b="1"/>
          </a:p>
        </p:txBody>
      </p:sp>
      <p:sp>
        <p:nvSpPr>
          <p:cNvPr id="11" name="Isosceles Triangle 10"/>
          <p:cNvSpPr/>
          <p:nvPr/>
        </p:nvSpPr>
        <p:spPr>
          <a:xfrm rot="15240000">
            <a:off x="6127115" y="2956560"/>
            <a:ext cx="174625" cy="165735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6339840" y="2606040"/>
            <a:ext cx="212725" cy="763905"/>
          </a:xfrm>
          <a:prstGeom prst="line">
            <a:avLst/>
          </a:prstGeom>
          <a:ln w="28575">
            <a:solidFill>
              <a:srgbClr val="0070C0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627495" y="2572385"/>
            <a:ext cx="182880" cy="680085"/>
          </a:xfrm>
          <a:prstGeom prst="line">
            <a:avLst/>
          </a:prstGeom>
          <a:ln w="28575">
            <a:solidFill>
              <a:srgbClr val="0070C0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6885305" y="2534920"/>
            <a:ext cx="161290" cy="614045"/>
          </a:xfrm>
          <a:prstGeom prst="line">
            <a:avLst/>
          </a:prstGeom>
          <a:ln w="28575">
            <a:solidFill>
              <a:srgbClr val="0070C0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Arc 14"/>
          <p:cNvSpPr/>
          <p:nvPr/>
        </p:nvSpPr>
        <p:spPr>
          <a:xfrm rot="1500000">
            <a:off x="5176520" y="2917825"/>
            <a:ext cx="405130" cy="352425"/>
          </a:xfrm>
          <a:prstGeom prst="arc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Text Box 16"/>
          <p:cNvSpPr txBox="1"/>
          <p:nvPr/>
        </p:nvSpPr>
        <p:spPr>
          <a:xfrm>
            <a:off x="5121275" y="2899410"/>
            <a:ext cx="33210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>
                <a:latin typeface="C059" panose="00000500000000000000" charset="0"/>
                <a:cs typeface="C059" panose="00000500000000000000" charset="0"/>
              </a:rPr>
              <a:t>φ</a:t>
            </a:r>
            <a:endParaRPr lang="en-US">
              <a:latin typeface="C059" panose="00000500000000000000" charset="0"/>
              <a:cs typeface="C059" panose="00000500000000000000" charset="0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H="1" flipV="1">
            <a:off x="4456430" y="2675890"/>
            <a:ext cx="3810" cy="473075"/>
          </a:xfrm>
          <a:prstGeom prst="straightConnector1">
            <a:avLst/>
          </a:prstGeom>
          <a:ln w="19050"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Box 19"/>
          <p:cNvSpPr txBox="1"/>
          <p:nvPr/>
        </p:nvSpPr>
        <p:spPr>
          <a:xfrm>
            <a:off x="4265295" y="2755265"/>
            <a:ext cx="15303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/>
              <a:t>N</a:t>
            </a:r>
            <a:endParaRPr lang="en-US" sz="1000"/>
          </a:p>
        </p:txBody>
      </p:sp>
      <p:sp>
        <p:nvSpPr>
          <p:cNvPr id="21" name="Text Box 20"/>
          <p:cNvSpPr txBox="1"/>
          <p:nvPr/>
        </p:nvSpPr>
        <p:spPr>
          <a:xfrm>
            <a:off x="7255510" y="2386965"/>
            <a:ext cx="153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n/>
                <a:solidFill>
                  <a:schemeClr val="accent1">
                    <a:lumMod val="75000"/>
                  </a:schemeClr>
                </a:solidFill>
                <a:effectLst/>
              </a:rPr>
              <a:t>k</a:t>
            </a:r>
            <a:endParaRPr lang="en-US">
              <a:ln/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  <p:cxnSp>
        <p:nvCxnSpPr>
          <p:cNvPr id="22" name="Straight Arrow Connector 21"/>
          <p:cNvCxnSpPr/>
          <p:nvPr/>
        </p:nvCxnSpPr>
        <p:spPr>
          <a:xfrm flipH="1" flipV="1">
            <a:off x="7322185" y="2442845"/>
            <a:ext cx="116840" cy="635"/>
          </a:xfrm>
          <a:prstGeom prst="straightConnector1">
            <a:avLst/>
          </a:prstGeom>
          <a:ln w="6350" cmpd="sng">
            <a:solidFill>
              <a:schemeClr val="accent1">
                <a:lumMod val="75000"/>
              </a:schemeClr>
            </a:solidFill>
            <a:prstDash val="solid"/>
            <a:tailEnd type="stealth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 Box 22"/>
              <p:cNvSpPr txBox="1"/>
              <p:nvPr/>
            </p:nvSpPr>
            <p:spPr>
              <a:xfrm>
                <a:off x="3451797" y="1730946"/>
                <a:ext cx="1715135" cy="61785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𝑐</m:t>
                      </m:r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 = </m:t>
                      </m:r>
                      <m:f>
                        <m:fPr>
                          <m:ctrlP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𝐷</m:t>
                          </m:r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 </m:t>
                          </m:r>
                          <m:func>
                            <m:funcPr>
                              <m:ctrlPr>
                                <a:rPr lang="en-US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𝜑</m:t>
                              </m:r>
                            </m:e>
                          </m:func>
                        </m:num>
                        <m:den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∆</m:t>
                          </m:r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23" name="Text 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1797" y="1730946"/>
                <a:ext cx="1715135" cy="617855"/>
              </a:xfrm>
              <a:prstGeom prst="rect">
                <a:avLst/>
              </a:prstGeom>
              <a:blipFill rotWithShape="1">
                <a:blip r:embed="rId1"/>
                <a:stretch>
                  <a:fillRect l="-292" t="-812" r="-263" b="-73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/>
          <p:cNvCxnSpPr/>
          <p:nvPr/>
        </p:nvCxnSpPr>
        <p:spPr>
          <a:xfrm flipV="1">
            <a:off x="6528435" y="2029460"/>
            <a:ext cx="223520" cy="151765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 Box 24"/>
          <p:cNvSpPr txBox="1"/>
          <p:nvPr/>
        </p:nvSpPr>
        <p:spPr>
          <a:xfrm>
            <a:off x="6603365" y="1816735"/>
            <a:ext cx="1225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olidFill>
                  <a:srgbClr val="C00000"/>
                </a:solidFill>
              </a:rPr>
              <a:t>R</a:t>
            </a:r>
            <a:endParaRPr lang="en-US" sz="1200">
              <a:solidFill>
                <a:srgbClr val="C00000"/>
              </a:solidFill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6649720" y="2205990"/>
            <a:ext cx="1225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olidFill>
                  <a:srgbClr val="C00000"/>
                </a:solidFill>
              </a:rPr>
              <a:t>T</a:t>
            </a:r>
            <a:endParaRPr lang="en-US" sz="1200">
              <a:solidFill>
                <a:srgbClr val="C00000"/>
              </a:solidFill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6534150" y="2171700"/>
            <a:ext cx="167640" cy="190500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WPS Presentation</Application>
  <PresentationFormat>宽屏</PresentationFormat>
  <Paragraphs>18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SimSun</vt:lpstr>
      <vt:lpstr>Wingdings</vt:lpstr>
      <vt:lpstr>DejaVu Sans</vt:lpstr>
      <vt:lpstr>Arial Black</vt:lpstr>
      <vt:lpstr>Microsoft YaHei</vt:lpstr>
      <vt:lpstr>Droid Sans Fallback</vt:lpstr>
      <vt:lpstr>Arial Unicode MS</vt:lpstr>
      <vt:lpstr>SimSun</vt:lpstr>
      <vt:lpstr>SimSun</vt:lpstr>
      <vt:lpstr>C059</vt:lpstr>
      <vt:lpstr>DejaVu Math TeX Gyre</vt:lpstr>
      <vt:lpstr>Noto Color Emoji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andbro</cp:lastModifiedBy>
  <cp:revision>8</cp:revision>
  <dcterms:created xsi:type="dcterms:W3CDTF">2026-03-18T14:15:23Z</dcterms:created>
  <dcterms:modified xsi:type="dcterms:W3CDTF">2026-03-18T14:15:23Z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